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</a:p>
          <a:p>
            <a:pPr algn="ctr">
              <a:spcBef>
                <a:spcPts val="1800"/>
              </a:spcBef>
            </a:pPr>
            <a:r>
              <a:rPr lang="en-US" sz="3200" b="1" dirty="0">
                <a:solidFill>
                  <a:srgbClr val="C00000"/>
                </a:solidFill>
                <a:latin typeface="+mn-lt"/>
              </a:rPr>
              <a:t>Multi-Pattern Unicode Search Engine</a:t>
            </a:r>
            <a:br>
              <a:rPr lang="en-US" sz="3200"/>
            </a:br>
            <a:r>
              <a:rPr lang="en-US" sz="3200" b="1" dirty="0">
                <a:solidFill>
                  <a:srgbClr val="C00000"/>
                </a:solidFill>
                <a:latin typeface="+mn-lt"/>
              </a:rPr>
              <a:t>Using Aho–Corasick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3520440"/>
            <a:ext cx="6702552" cy="2651760"/>
          </a:xfrm>
        </p:spPr>
        <p:txBody>
          <a:bodyPr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2000" b="1" dirty="0">
                <a:solidFill>
                  <a:srgbClr val="0070C0"/>
                </a:solidFill>
                <a:latin typeface="Calibri"/>
              </a:rPr>
              <a:t>Team Members (Team 9, Section 5)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800" b="0" dirty="0">
                <a:solidFill>
                  <a:srgbClr val="0070C0"/>
                </a:solidFill>
                <a:latin typeface="Calibri"/>
              </a:rPr>
              <a:t>Kandula Poojitha Rani: 2520030460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800" b="0" dirty="0">
                <a:solidFill>
                  <a:srgbClr val="0070C0"/>
                </a:solidFill>
                <a:latin typeface="Calibri"/>
              </a:rPr>
              <a:t>Himesh: 2520030317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800" b="0" dirty="0">
                <a:solidFill>
                  <a:srgbClr val="0070C0"/>
                </a:solidFill>
                <a:latin typeface="Calibri"/>
              </a:rPr>
              <a:t>Ishwak: 2520030458</a:t>
            </a:r>
          </a:p>
          <a:p>
            <a:pPr algn="ctr">
              <a:spcAft>
                <a:spcPts val="200"/>
              </a:spcAft>
            </a:pPr>
            <a:endParaRPr lang="en-US" sz="1000"/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800" b="0" dirty="0">
                <a:solidFill>
                  <a:srgbClr val="000000"/>
                </a:solidFill>
                <a:latin typeface="Times New Roman"/>
              </a:rPr>
              <a:t>Under the Esteemed Guidance of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800" b="1" dirty="0">
                <a:solidFill>
                  <a:srgbClr val="000000"/>
                </a:solidFill>
                <a:latin typeface="Times New Roman"/>
              </a:rPr>
              <a:t>Swati D, Assistant Professor, Department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101" name="Abstract card"/>
          <p:cNvSpPr/>
          <p:nvPr/>
        </p:nvSpPr>
        <p:spPr>
          <a:xfrm>
            <a:off x="822960" y="1097280"/>
            <a:ext cx="6400800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A software system that searches many keywords at once in large text datasets and reports every occurrence with its position.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Uses the Aho–Corasick algorithm: a Trie of all keywords plus failure links, so the text is scanned in a single traversal instead of once per keyword.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Output information stored at relevant nodes identifies every matched keyword, including overlapping ones.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Unicode support lets it process English, Indian and Asian languages, and special symbols.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Performance is judged by search time, number of matches, memory usage and overall processing efficiency.</a:t>
            </a:r>
          </a:p>
        </p:txBody>
      </p:sp>
      <p:sp>
        <p:nvSpPr>
          <p:cNvPr id="102" name="Stat 1"/>
          <p:cNvSpPr/>
          <p:nvPr/>
        </p:nvSpPr>
        <p:spPr>
          <a:xfrm>
            <a:off x="7498080" y="1097280"/>
            <a:ext cx="3931920" cy="160020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3400" b="1" i="0" dirty="0">
                <a:solidFill>
                  <a:srgbClr val="C00000"/>
                </a:solidFill>
                <a:latin typeface="Calibri"/>
                <a:cs typeface="Calibri"/>
              </a:rPr>
              <a:t>1 pass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595959"/>
                </a:solidFill>
                <a:latin typeface="Calibri"/>
                <a:cs typeface="Calibri"/>
              </a:rPr>
              <a:t>Text scanned once for all keywords</a:t>
            </a:r>
          </a:p>
        </p:txBody>
      </p:sp>
      <p:sp>
        <p:nvSpPr>
          <p:cNvPr id="103" name="Stat 2"/>
          <p:cNvSpPr/>
          <p:nvPr/>
        </p:nvSpPr>
        <p:spPr>
          <a:xfrm>
            <a:off x="7498080" y="2880360"/>
            <a:ext cx="3931920" cy="160020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3400" b="1" i="0" dirty="0">
                <a:solidFill>
                  <a:srgbClr val="C00000"/>
                </a:solidFill>
                <a:latin typeface="Calibri"/>
                <a:cs typeface="Calibri"/>
              </a:rPr>
              <a:t>O(N + Z)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595959"/>
                </a:solidFill>
                <a:latin typeface="Calibri"/>
                <a:cs typeface="Calibri"/>
              </a:rPr>
              <a:t>Search time after preprocessing</a:t>
            </a:r>
          </a:p>
        </p:txBody>
      </p:sp>
      <p:sp>
        <p:nvSpPr>
          <p:cNvPr id="104" name="Stat 3"/>
          <p:cNvSpPr/>
          <p:nvPr/>
        </p:nvSpPr>
        <p:spPr>
          <a:xfrm>
            <a:off x="7498080" y="4663440"/>
            <a:ext cx="3931920" cy="160020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3400" b="1" i="0" dirty="0">
                <a:solidFill>
                  <a:srgbClr val="C00000"/>
                </a:solidFill>
                <a:latin typeface="Calibri"/>
                <a:cs typeface="Calibri"/>
              </a:rPr>
              <a:t>Unicode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595959"/>
                </a:solidFill>
                <a:latin typeface="Calibri"/>
                <a:cs typeface="Calibri"/>
              </a:rPr>
              <a:t>Code-point based, multilingual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05" name="Intro card"/>
          <p:cNvSpPr/>
          <p:nvPr/>
        </p:nvSpPr>
        <p:spPr>
          <a:xfrm>
            <a:off x="822960" y="1097280"/>
            <a:ext cx="6126480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900" b="0" i="0" dirty="0">
                <a:solidFill>
                  <a:srgbClr val="262626"/>
                </a:solidFill>
                <a:latin typeface="Calibri"/>
                <a:cs typeface="Calibri"/>
              </a:rPr>
              <a:t>Keyword search is a core operation in search engines, intrusion detection, spam filters and plagiarism checkers.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900" b="0" i="0" dirty="0">
                <a:solidFill>
                  <a:srgbClr val="262626"/>
                </a:solidFill>
                <a:latin typeface="Calibri"/>
                <a:cs typeface="Calibri"/>
              </a:rPr>
              <a:t>Running a single-pattern search once per keyword becomes slow when thousands of keywords meet large text.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900" b="0" i="0" dirty="0">
                <a:solidFill>
                  <a:srgbClr val="262626"/>
                </a:solidFill>
                <a:latin typeface="Calibri"/>
                <a:cs typeface="Calibri"/>
              </a:rPr>
              <a:t>Aho–Corasick merges all keywords into a Trie and adds failure links, forming an automaton that finds all of them in one pass.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900" b="0" i="0" dirty="0">
                <a:solidFill>
                  <a:srgbClr val="262626"/>
                </a:solidFill>
                <a:latin typeface="Calibri"/>
                <a:cs typeface="Calibri"/>
              </a:rPr>
              <a:t>This project implements it in Java with Unicode support inside TextHack, a menu-driven toolkit that also covers KMP, edit distance, LCS, max-flow, matching, vertex cover, Miller–Rabin and prefix scan.</a:t>
            </a:r>
          </a:p>
        </p:txBody>
      </p:sp>
      <p:sp>
        <p:nvSpPr>
          <p:cNvPr id="106" name="Repeated search"/>
          <p:cNvSpPr/>
          <p:nvPr/>
        </p:nvSpPr>
        <p:spPr>
          <a:xfrm>
            <a:off x="7223760" y="1097280"/>
            <a:ext cx="4206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700" b="1" i="0" dirty="0">
                <a:solidFill>
                  <a:srgbClr val="595959"/>
                </a:solidFill>
                <a:latin typeface="Calibri"/>
                <a:cs typeface="Calibri"/>
              </a:rPr>
              <a:t>Repeated single-pattern search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  <a:latin typeface="Calibri"/>
                <a:cs typeface="Calibri"/>
              </a:rPr>
              <a:t>k scans of the text: O(k · n)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595959"/>
                </a:solidFill>
                <a:latin typeface="Calibri"/>
                <a:cs typeface="Calibri"/>
              </a:rPr>
              <a:t>Cost grows with every added keyword</a:t>
            </a:r>
          </a:p>
        </p:txBody>
      </p:sp>
      <p:sp>
        <p:nvSpPr>
          <p:cNvPr id="107" name="AC card"/>
          <p:cNvSpPr/>
          <p:nvPr/>
        </p:nvSpPr>
        <p:spPr>
          <a:xfrm>
            <a:off x="7223760" y="2880360"/>
            <a:ext cx="4206240" cy="160020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700" b="1" i="0" dirty="0">
                <a:solidFill>
                  <a:srgbClr val="C00000"/>
                </a:solidFill>
                <a:latin typeface="Calibri"/>
                <a:cs typeface="Calibri"/>
              </a:rPr>
              <a:t>Aho–Corasick automaton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  <a:latin typeface="Calibri"/>
                <a:cs typeface="Calibri"/>
              </a:rPr>
              <a:t>One scan for all keywords: O(N + Z)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595959"/>
                </a:solidFill>
                <a:latin typeface="Calibri"/>
                <a:cs typeface="Calibri"/>
              </a:rPr>
              <a:t>Cost depends on text length and matches found</a:t>
            </a:r>
          </a:p>
        </p:txBody>
      </p:sp>
      <p:sp>
        <p:nvSpPr>
          <p:cNvPr id="108" name="Applications"/>
          <p:cNvSpPr/>
          <p:nvPr/>
        </p:nvSpPr>
        <p:spPr>
          <a:xfrm>
            <a:off x="7223760" y="4663440"/>
            <a:ext cx="42062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700" b="1" i="0" dirty="0">
                <a:solidFill>
                  <a:srgbClr val="C00000"/>
                </a:solidFill>
                <a:latin typeface="Calibri"/>
                <a:cs typeface="Calibri"/>
              </a:rPr>
              <a:t>Applications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62626"/>
                </a:solidFill>
                <a:latin typeface="Calibri"/>
                <a:cs typeface="Calibri"/>
              </a:rPr>
              <a:t>Search engines, intrusion detection, spam and malware detection, plagiarism checking, keyword monitoring, multilingual retrieval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109" name="Literature table"/>
          <p:cNvGraphicFramePr>
            <a:graphicFrameLocks noGrp="1"/>
          </p:cNvGraphicFramePr>
          <p:nvPr/>
        </p:nvGraphicFramePr>
        <p:xfrm>
          <a:off x="822960" y="1143000"/>
          <a:ext cx="10607040" cy="3950208"/>
        </p:xfrm>
        <a:graphic>
          <a:graphicData uri="http://schemas.openxmlformats.org/drawingml/2006/table">
            <a:tbl>
              <a:tblPr firstRow="1"/>
              <a:tblGrid>
                <a:gridCol w="3108960"/>
                <a:gridCol w="1737360"/>
                <a:gridCol w="2011680"/>
                <a:gridCol w="3749040"/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Patterns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Remark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Naive search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Single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O(n · m)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Re-compares characters after every mismatch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KMP (Knuth, Morris, Pratt, 1977)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Single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O(n + m)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Needs one full scan per keyword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EAE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Boyer–Moore (1977)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Single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Sublinear on average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Skips text, but still one pattern per run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Rabin–Karp (1987)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Multiple (hashing)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O(n + m) on average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Hash collisions need verification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EAE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Aho–Corasick (1975)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Multiple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O(n + m + z)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Extra memory for the automaton; used in this project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0" name="Takeaway"/>
          <p:cNvSpPr/>
          <p:nvPr/>
        </p:nvSpPr>
        <p:spPr>
          <a:xfrm>
            <a:off x="822960" y="5577840"/>
            <a:ext cx="10607040" cy="77724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C00000"/>
                </a:solidFill>
                <a:latin typeface="Calibri"/>
                <a:cs typeface="Calibri"/>
              </a:rPr>
              <a:t>Takeaway: </a:t>
            </a: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when many keywords must be matched together, Aho–Corasick avoids repeating the scan for each keyword.</a:t>
            </a:r>
          </a:p>
        </p:txBody>
      </p:sp>
      <p:sp>
        <p:nvSpPr>
          <p:cNvPr id="111" name="Reference"/>
          <p:cNvSpPr txBox="1"/>
          <p:nvPr/>
        </p:nvSpPr>
        <p:spPr>
          <a:xfrm>
            <a:off x="822960" y="516636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595959"/>
                </a:solidFill>
                <a:latin typeface="Calibri"/>
                <a:cs typeface="Calibri"/>
              </a:rPr>
              <a:t>Ref: A. V. Aho and M. J. Corasick, “Efficient string matching: an aid to bibliographic search”, Communications of the ACM, 1975.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112" name="Problem card"/>
          <p:cNvSpPr/>
          <p:nvPr/>
        </p:nvSpPr>
        <p:spPr>
          <a:xfrm>
            <a:off x="822960" y="1097280"/>
            <a:ext cx="4297680" cy="525780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i="0" dirty="0">
                <a:solidFill>
                  <a:srgbClr val="C00000"/>
                </a:solidFill>
                <a:latin typeface="Calibri"/>
                <a:cs typeface="Calibri"/>
              </a:rPr>
              <a:t>Problem Statement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dirty="0">
                <a:solidFill>
                  <a:srgbClr val="262626"/>
                </a:solidFill>
                <a:latin typeface="Calibri"/>
                <a:cs typeface="Calibri"/>
              </a:rPr>
              <a:t>Searching for many keywords by repeating a single-pattern search for each one is slow and does not scale to thousands of keywords over large, multilingual text. A single-pass, Unicode-aware engine is needed that reports every occurrence, including overlapping ones, with its position.</a:t>
            </a:r>
          </a:p>
        </p:txBody>
      </p:sp>
      <p:sp>
        <p:nvSpPr>
          <p:cNvPr id="113" name="Objective 1"/>
          <p:cNvSpPr/>
          <p:nvPr/>
        </p:nvSpPr>
        <p:spPr>
          <a:xfrm>
            <a:off x="5943600" y="109728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1" i="0" dirty="0">
                <a:solidFill>
                  <a:srgbClr val="262626"/>
                </a:solidFill>
                <a:latin typeface="Calibri"/>
                <a:cs typeface="Calibri"/>
              </a:rPr>
              <a:t>Build a Trie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Store all keywords code point by code point</a:t>
            </a:r>
          </a:p>
        </p:txBody>
      </p:sp>
      <p:sp>
        <p:nvSpPr>
          <p:cNvPr id="114" name="Number 1"/>
          <p:cNvSpPr/>
          <p:nvPr/>
        </p:nvSpPr>
        <p:spPr>
          <a:xfrm>
            <a:off x="5394960" y="128016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5" name="Objective 2"/>
          <p:cNvSpPr/>
          <p:nvPr/>
        </p:nvSpPr>
        <p:spPr>
          <a:xfrm>
            <a:off x="5943600" y="2167128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1" i="0" dirty="0">
                <a:solidFill>
                  <a:srgbClr val="262626"/>
                </a:solidFill>
                <a:latin typeface="Calibri"/>
                <a:cs typeface="Calibri"/>
              </a:rPr>
              <a:t>Add failure links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Compute them with a BFS so mismatches never re-read text</a:t>
            </a:r>
          </a:p>
        </p:txBody>
      </p:sp>
      <p:sp>
        <p:nvSpPr>
          <p:cNvPr id="116" name="Number 2"/>
          <p:cNvSpPr/>
          <p:nvPr/>
        </p:nvSpPr>
        <p:spPr>
          <a:xfrm>
            <a:off x="5394960" y="2350008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17" name="Objective 3"/>
          <p:cNvSpPr/>
          <p:nvPr/>
        </p:nvSpPr>
        <p:spPr>
          <a:xfrm>
            <a:off x="5943600" y="3236976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1" i="0" dirty="0">
                <a:solidFill>
                  <a:srgbClr val="262626"/>
                </a:solidFill>
                <a:latin typeface="Calibri"/>
                <a:cs typeface="Calibri"/>
              </a:rPr>
              <a:t>Merge output lists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Report overlapping keywords such as “he” inside “she”</a:t>
            </a:r>
          </a:p>
        </p:txBody>
      </p:sp>
      <p:sp>
        <p:nvSpPr>
          <p:cNvPr id="118" name="Number 3"/>
          <p:cNvSpPr/>
          <p:nvPr/>
        </p:nvSpPr>
        <p:spPr>
          <a:xfrm>
            <a:off x="5394960" y="3419856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19" name="Objective 4"/>
          <p:cNvSpPr/>
          <p:nvPr/>
        </p:nvSpPr>
        <p:spPr>
          <a:xfrm>
            <a:off x="5943600" y="4306824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1" i="0" dirty="0">
                <a:solidFill>
                  <a:srgbClr val="262626"/>
                </a:solidFill>
                <a:latin typeface="Calibri"/>
                <a:cs typeface="Calibri"/>
              </a:rPr>
              <a:t>Support Unicode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Work on code points for multilingual datasets</a:t>
            </a:r>
          </a:p>
        </p:txBody>
      </p:sp>
      <p:sp>
        <p:nvSpPr>
          <p:cNvPr id="120" name="Number 4"/>
          <p:cNvSpPr/>
          <p:nvPr/>
        </p:nvSpPr>
        <p:spPr>
          <a:xfrm>
            <a:off x="5394960" y="4489704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21" name="Objective 5"/>
          <p:cNvSpPr/>
          <p:nvPr/>
        </p:nvSpPr>
        <p:spPr>
          <a:xfrm>
            <a:off x="5943600" y="5376672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1" i="0" dirty="0">
                <a:solidFill>
                  <a:srgbClr val="262626"/>
                </a:solidFill>
                <a:latin typeface="Calibri"/>
                <a:cs typeface="Calibri"/>
              </a:rPr>
              <a:t>Report and compare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Show document, pattern, start and end index; compare with KMP, edit distance and LCS</a:t>
            </a:r>
          </a:p>
        </p:txBody>
      </p:sp>
      <p:sp>
        <p:nvSpPr>
          <p:cNvPr id="122" name="Number 5"/>
          <p:cNvSpPr/>
          <p:nvPr/>
        </p:nvSpPr>
        <p:spPr>
          <a:xfrm>
            <a:off x="5394960" y="5559552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123" name="Step 1"/>
          <p:cNvSpPr/>
          <p:nvPr/>
        </p:nvSpPr>
        <p:spPr>
          <a:xfrm>
            <a:off x="822960" y="118872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i="0" dirty="0">
                <a:solidFill>
                  <a:srgbClr val="C00000"/>
                </a:solidFill>
                <a:latin typeface="Calibri"/>
                <a:cs typeface="Calibri"/>
              </a:rPr>
              <a:t>1  Add documents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Enter text, finish with END</a:t>
            </a:r>
          </a:p>
        </p:txBody>
      </p:sp>
      <p:sp>
        <p:nvSpPr>
          <p:cNvPr id="124" name="Arrow 1"/>
          <p:cNvSpPr/>
          <p:nvPr/>
        </p:nvSpPr>
        <p:spPr>
          <a:xfrm>
            <a:off x="3108960" y="1691640"/>
            <a:ext cx="411480" cy="36576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endParaRPr lang="en-US"/>
          </a:p>
        </p:txBody>
      </p:sp>
      <p:sp>
        <p:nvSpPr>
          <p:cNvPr id="125" name="Step 2"/>
          <p:cNvSpPr/>
          <p:nvPr/>
        </p:nvSpPr>
        <p:spPr>
          <a:xfrm>
            <a:off x="3611880" y="118872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i="0" dirty="0">
                <a:solidFill>
                  <a:srgbClr val="C00000"/>
                </a:solidFill>
                <a:latin typeface="Calibri"/>
                <a:cs typeface="Calibri"/>
              </a:rPr>
              <a:t>2  Enter patterns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1 to 500 keywords</a:t>
            </a:r>
          </a:p>
        </p:txBody>
      </p:sp>
      <p:sp>
        <p:nvSpPr>
          <p:cNvPr id="126" name="Arrow 2"/>
          <p:cNvSpPr/>
          <p:nvPr/>
        </p:nvSpPr>
        <p:spPr>
          <a:xfrm>
            <a:off x="5897880" y="1691640"/>
            <a:ext cx="411480" cy="36576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endParaRPr lang="en-US"/>
          </a:p>
        </p:txBody>
      </p:sp>
      <p:sp>
        <p:nvSpPr>
          <p:cNvPr id="127" name="Step 3"/>
          <p:cNvSpPr/>
          <p:nvPr/>
        </p:nvSpPr>
        <p:spPr>
          <a:xfrm>
            <a:off x="6400800" y="118872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i="0" dirty="0">
                <a:solidFill>
                  <a:srgbClr val="C00000"/>
                </a:solidFill>
                <a:latin typeface="Calibri"/>
                <a:cs typeface="Calibri"/>
              </a:rPr>
              <a:t>3  Build Trie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Insert each keyword code point by code point</a:t>
            </a:r>
          </a:p>
        </p:txBody>
      </p:sp>
      <p:sp>
        <p:nvSpPr>
          <p:cNvPr id="128" name="Arrow 3"/>
          <p:cNvSpPr/>
          <p:nvPr/>
        </p:nvSpPr>
        <p:spPr>
          <a:xfrm>
            <a:off x="8686800" y="1691640"/>
            <a:ext cx="411480" cy="36576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endParaRPr lang="en-US"/>
          </a:p>
        </p:txBody>
      </p:sp>
      <p:sp>
        <p:nvSpPr>
          <p:cNvPr id="129" name="Step 4"/>
          <p:cNvSpPr/>
          <p:nvPr/>
        </p:nvSpPr>
        <p:spPr>
          <a:xfrm>
            <a:off x="9189720" y="118872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i="0" dirty="0">
                <a:solidFill>
                  <a:srgbClr val="C00000"/>
                </a:solidFill>
                <a:latin typeface="Calibri"/>
                <a:cs typeface="Calibri"/>
              </a:rPr>
              <a:t>4  Failure links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BFS over the Trie, merge output lists</a:t>
            </a:r>
          </a:p>
        </p:txBody>
      </p:sp>
      <p:sp>
        <p:nvSpPr>
          <p:cNvPr id="130" name="Step 5"/>
          <p:cNvSpPr/>
          <p:nvPr/>
        </p:nvSpPr>
        <p:spPr>
          <a:xfrm>
            <a:off x="9189720" y="342900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i="0" dirty="0">
                <a:solidFill>
                  <a:srgbClr val="C00000"/>
                </a:solidFill>
                <a:latin typeface="Calibri"/>
                <a:cs typeface="Calibri"/>
              </a:rPr>
              <a:t>5  Scan text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Read code points; on mismatch follow the failure link</a:t>
            </a:r>
          </a:p>
        </p:txBody>
      </p:sp>
      <p:sp>
        <p:nvSpPr>
          <p:cNvPr id="131" name="Arrow 5"/>
          <p:cNvSpPr/>
          <p:nvPr/>
        </p:nvSpPr>
        <p:spPr>
          <a:xfrm>
            <a:off x="8686800" y="3931920"/>
            <a:ext cx="411480" cy="365760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endParaRPr lang="en-US"/>
          </a:p>
        </p:txBody>
      </p:sp>
      <p:sp>
        <p:nvSpPr>
          <p:cNvPr id="132" name="Step 6"/>
          <p:cNvSpPr/>
          <p:nvPr/>
        </p:nvSpPr>
        <p:spPr>
          <a:xfrm>
            <a:off x="6400800" y="342900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i="0" dirty="0">
                <a:solidFill>
                  <a:srgbClr val="C00000"/>
                </a:solidFill>
                <a:latin typeface="Calibri"/>
                <a:cs typeface="Calibri"/>
              </a:rPr>
              <a:t>6  Check outputs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Collect keywords ending at the current node</a:t>
            </a:r>
          </a:p>
        </p:txBody>
      </p:sp>
      <p:sp>
        <p:nvSpPr>
          <p:cNvPr id="133" name="Arrow 6"/>
          <p:cNvSpPr/>
          <p:nvPr/>
        </p:nvSpPr>
        <p:spPr>
          <a:xfrm>
            <a:off x="5897880" y="3931920"/>
            <a:ext cx="411480" cy="365760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endParaRPr lang="en-US"/>
          </a:p>
        </p:txBody>
      </p:sp>
      <p:sp>
        <p:nvSpPr>
          <p:cNvPr id="134" name="Step 7"/>
          <p:cNvSpPr/>
          <p:nvPr/>
        </p:nvSpPr>
        <p:spPr>
          <a:xfrm>
            <a:off x="3611880" y="342900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i="0" dirty="0">
                <a:solidFill>
                  <a:srgbClr val="C00000"/>
                </a:solidFill>
                <a:latin typeface="Calibri"/>
                <a:cs typeface="Calibri"/>
              </a:rPr>
              <a:t>7  Report matches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Document, pattern, start and end index</a:t>
            </a:r>
          </a:p>
        </p:txBody>
      </p:sp>
      <p:sp>
        <p:nvSpPr>
          <p:cNvPr id="135" name="Arrow 7"/>
          <p:cNvSpPr/>
          <p:nvPr/>
        </p:nvSpPr>
        <p:spPr>
          <a:xfrm>
            <a:off x="3108960" y="3931920"/>
            <a:ext cx="411480" cy="365760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endParaRPr lang="en-US"/>
          </a:p>
        </p:txBody>
      </p:sp>
      <p:sp>
        <p:nvSpPr>
          <p:cNvPr id="136" name="Step 8"/>
          <p:cNvSpPr/>
          <p:nvPr/>
        </p:nvSpPr>
        <p:spPr>
          <a:xfrm>
            <a:off x="822960" y="342900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i="0" dirty="0">
                <a:solidFill>
                  <a:srgbClr val="C00000"/>
                </a:solidFill>
                <a:latin typeface="Calibri"/>
                <a:cs typeface="Calibri"/>
              </a:rPr>
              <a:t>8  End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Print total matches</a:t>
            </a:r>
          </a:p>
        </p:txBody>
      </p:sp>
      <p:sp>
        <p:nvSpPr>
          <p:cNvPr id="137" name="Arrow down"/>
          <p:cNvSpPr/>
          <p:nvPr/>
        </p:nvSpPr>
        <p:spPr>
          <a:xfrm>
            <a:off x="10104120" y="2651760"/>
            <a:ext cx="365760" cy="6858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endParaRPr lang="en-US"/>
          </a:p>
        </p:txBody>
      </p:sp>
      <p:sp>
        <p:nvSpPr>
          <p:cNvPr id="138" name="Notes"/>
          <p:cNvSpPr/>
          <p:nvPr/>
        </p:nvSpPr>
        <p:spPr>
          <a:xfrm>
            <a:off x="822960" y="5029200"/>
            <a:ext cx="106070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62626"/>
                </a:solidFill>
                <a:latin typeface="Calibri"/>
                <a:cs typeface="Calibri"/>
              </a:rPr>
              <a:t>On a mismatch the automaton follows the failure link, so no text is read twice.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62626"/>
                </a:solidFill>
                <a:latin typeface="Calibri"/>
                <a:cs typeface="Calibri"/>
              </a:rPr>
              <a:t>Output lists inherit keywords from failure nodes, so overlapping matches are all reported.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62626"/>
                </a:solidFill>
                <a:latin typeface="Calibri"/>
                <a:cs typeface="Calibri"/>
              </a:rPr>
              <a:t>Keywords and text are converted to Unicode code points before matching.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39" name="Console"/>
          <p:cNvSpPr/>
          <p:nvPr/>
        </p:nvSpPr>
        <p:spPr>
          <a:xfrm>
            <a:off x="822960" y="1097280"/>
            <a:ext cx="5760720" cy="34290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square" lIns="22860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ourier New"/>
                <a:cs typeface="Courier New"/>
              </a:rPr>
              <a:t>Document: ushers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ourier New"/>
                <a:cs typeface="Courier New"/>
              </a:rPr>
              <a:t>Patterns : he, she, his, hers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9EE493"/>
                </a:solidFill>
                <a:latin typeface="Courier New"/>
                <a:cs typeface="Courier New"/>
              </a:rPr>
              <a:t>Document 0 | Pattern: he | Start: 2 | End: 3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9EE493"/>
                </a:solidFill>
                <a:latin typeface="Courier New"/>
                <a:cs typeface="Courier New"/>
              </a:rPr>
              <a:t>Document 0 | Pattern: she | Start: 1 | End: 3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9EE493"/>
                </a:solidFill>
                <a:latin typeface="Courier New"/>
                <a:cs typeface="Courier New"/>
              </a:rPr>
              <a:t>Document 0 | Pattern: hers | Start: 2 | End: 5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ourier New"/>
                <a:cs typeface="Courier New"/>
              </a:rPr>
              <a:t>Total matches: 3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ourier New"/>
                <a:cs typeface="Courier New"/>
              </a:rPr>
              <a:t>Algorithm: Aho-Corasick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ourier New"/>
                <a:cs typeface="Courier New"/>
              </a:rPr>
              <a:t>Search complexity: O(N + Z)</a:t>
            </a:r>
          </a:p>
        </p:txBody>
      </p:sp>
      <p:sp>
        <p:nvSpPr>
          <p:cNvPr id="140" name="Observation"/>
          <p:cNvSpPr/>
          <p:nvPr/>
        </p:nvSpPr>
        <p:spPr>
          <a:xfrm>
            <a:off x="822960" y="4709160"/>
            <a:ext cx="5760720" cy="164592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i="0" dirty="0">
                <a:solidFill>
                  <a:srgbClr val="C00000"/>
                </a:solidFill>
                <a:latin typeface="Calibri"/>
                <a:cs typeface="Calibri"/>
              </a:rPr>
              <a:t>Observation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62626"/>
                </a:solidFill>
                <a:latin typeface="Calibri"/>
                <a:cs typeface="Calibri"/>
              </a:rPr>
              <a:t>One left-to-right scan over a 10-node Trie reports all three overlapping matches: “he” and “she” end at the same position, and “hers” follows.</a:t>
            </a:r>
          </a:p>
        </p:txBody>
      </p:sp>
      <p:graphicFrame>
        <p:nvGraphicFramePr>
          <p:cNvPr id="141" name="Results table"/>
          <p:cNvGraphicFramePr>
            <a:graphicFrameLocks noGrp="1"/>
          </p:cNvGraphicFramePr>
          <p:nvPr/>
        </p:nvGraphicFramePr>
        <p:xfrm>
          <a:off x="6766560" y="1097280"/>
          <a:ext cx="4663440" cy="5248656"/>
        </p:xfrm>
        <a:graphic>
          <a:graphicData uri="http://schemas.openxmlformats.org/drawingml/2006/table">
            <a:tbl>
              <a:tblPr firstRow="1"/>
              <a:tblGrid>
                <a:gridCol w="2743200"/>
                <a:gridCol w="1920240"/>
              </a:tblGrid>
              <a:tr h="74980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TextHack module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Sample result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Maximum flow (Edmonds–Karp)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23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Bipartite matching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Size 3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EAE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Vertex cover (2-approx.)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6 vertices (optimal is 3)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Fuzzy search: algorithm vs algoritm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Edit distance 1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EAE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Miller–Rabin, n = 97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Probably prime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Deadline-order scheduling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4 of 5 jobs on time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42" name="Software chip"/>
          <p:cNvSpPr/>
          <p:nvPr/>
        </p:nvSpPr>
        <p:spPr>
          <a:xfrm>
            <a:off x="822960" y="1371600"/>
            <a:ext cx="5120640" cy="548640"/>
          </a:xfrm>
          <a:prstGeom prst="roundRect">
            <a:avLst>
              <a:gd name="adj" fmla="val 30000"/>
            </a:avLst>
          </a:prstGeom>
          <a:solidFill>
            <a:srgbClr val="C00000"/>
          </a:solidFill>
          <a:ln>
            <a:noFill/>
          </a:ln>
        </p:spPr>
        <p:txBody>
          <a:bodyPr wrap="square" lIns="91440" tIns="18288" rIns="91440" bIns="18288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Software Requirements</a:t>
            </a:r>
          </a:p>
        </p:txBody>
      </p:sp>
      <p:sp>
        <p:nvSpPr>
          <p:cNvPr id="143" name="Software card"/>
          <p:cNvSpPr/>
          <p:nvPr/>
        </p:nvSpPr>
        <p:spPr>
          <a:xfrm>
            <a:off x="822960" y="2057400"/>
            <a:ext cx="512064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Language: </a:t>
            </a:r>
            <a:r>
              <a:rPr lang="en-US" sz="2000" b="0" i="0" dirty="0">
                <a:solidFill>
                  <a:srgbClr val="262626"/>
                </a:solidFill>
                <a:latin typeface="Calibri"/>
                <a:cs typeface="Calibri"/>
              </a:rPr>
              <a:t>Java (JDK 8 or later)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I/O: </a:t>
            </a:r>
            <a:r>
              <a:rPr lang="en-US" sz="2000" b="0" i="0" dirty="0">
                <a:solidFill>
                  <a:srgbClr val="262626"/>
                </a:solidFill>
                <a:latin typeface="Calibri"/>
                <a:cs typeface="Calibri"/>
              </a:rPr>
              <a:t>Console input via BufferedReader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OS: </a:t>
            </a:r>
            <a:r>
              <a:rPr lang="en-US" sz="2000" b="0" i="0" dirty="0">
                <a:solidFill>
                  <a:srgbClr val="262626"/>
                </a:solidFill>
                <a:latin typeface="Calibri"/>
                <a:cs typeface="Calibri"/>
              </a:rPr>
              <a:t>Windows, Linux or macOS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Tools: </a:t>
            </a:r>
            <a:r>
              <a:rPr lang="en-US" sz="2000" b="0" i="0" dirty="0">
                <a:solidFill>
                  <a:srgbClr val="262626"/>
                </a:solidFill>
                <a:latin typeface="Calibri"/>
                <a:cs typeface="Calibri"/>
              </a:rPr>
              <a:t>Any Java IDE, or javac and java from a terminal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Terminal: </a:t>
            </a:r>
            <a:r>
              <a:rPr lang="en-US" sz="2000" b="0" i="0" dirty="0">
                <a:solidFill>
                  <a:srgbClr val="262626"/>
                </a:solidFill>
                <a:latin typeface="Calibri"/>
                <a:cs typeface="Calibri"/>
              </a:rPr>
              <a:t>UTF-8 enabled, for multilingual text</a:t>
            </a:r>
          </a:p>
        </p:txBody>
      </p:sp>
      <p:sp>
        <p:nvSpPr>
          <p:cNvPr id="144" name="Hardware chip"/>
          <p:cNvSpPr/>
          <p:nvPr/>
        </p:nvSpPr>
        <p:spPr>
          <a:xfrm>
            <a:off x="6309360" y="1371600"/>
            <a:ext cx="5120640" cy="548640"/>
          </a:xfrm>
          <a:prstGeom prst="roundRect">
            <a:avLst>
              <a:gd name="adj" fmla="val 30000"/>
            </a:avLst>
          </a:prstGeom>
          <a:solidFill>
            <a:srgbClr val="C00000"/>
          </a:solidFill>
          <a:ln>
            <a:noFill/>
          </a:ln>
        </p:spPr>
        <p:txBody>
          <a:bodyPr wrap="square" lIns="91440" tIns="18288" rIns="91440" bIns="18288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Hardware Requirements</a:t>
            </a:r>
          </a:p>
        </p:txBody>
      </p:sp>
      <p:sp>
        <p:nvSpPr>
          <p:cNvPr id="145" name="Hardware card"/>
          <p:cNvSpPr/>
          <p:nvPr/>
        </p:nvSpPr>
        <p:spPr>
          <a:xfrm>
            <a:off x="6309360" y="2057400"/>
            <a:ext cx="512064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Processor: </a:t>
            </a:r>
            <a:r>
              <a:rPr lang="en-US" sz="2000" b="0" i="0" dirty="0">
                <a:solidFill>
                  <a:srgbClr val="262626"/>
                </a:solidFill>
                <a:latin typeface="Calibri"/>
                <a:cs typeface="Calibri"/>
              </a:rPr>
              <a:t>Dual-core 2 GHz or better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RAM: </a:t>
            </a:r>
            <a:r>
              <a:rPr lang="en-US" sz="2000" b="0" i="0" dirty="0">
                <a:solidFill>
                  <a:srgbClr val="262626"/>
                </a:solidFill>
                <a:latin typeface="Calibri"/>
                <a:cs typeface="Calibri"/>
              </a:rPr>
              <a:t>4 GB minimum, 8 GB recommended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Storage: </a:t>
            </a:r>
            <a:r>
              <a:rPr lang="en-US" sz="2000" b="0" i="0" dirty="0">
                <a:solidFill>
                  <a:srgbClr val="262626"/>
                </a:solidFill>
                <a:latin typeface="Calibri"/>
                <a:cs typeface="Calibri"/>
              </a:rPr>
              <a:t>About 500 MB free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Peripherals: </a:t>
            </a:r>
            <a:r>
              <a:rPr lang="en-US" sz="2000" b="0" i="0" dirty="0">
                <a:solidFill>
                  <a:srgbClr val="262626"/>
                </a:solidFill>
                <a:latin typeface="Calibri"/>
                <a:cs typeface="Calibri"/>
              </a:rPr>
              <a:t>Keyboard and display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46" name="Single-pass search"/>
          <p:cNvSpPr/>
          <p:nvPr/>
        </p:nvSpPr>
        <p:spPr>
          <a:xfrm>
            <a:off x="822960" y="1097280"/>
            <a:ext cx="52120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 i="0" dirty="0">
                <a:solidFill>
                  <a:srgbClr val="C00000"/>
                </a:solidFill>
                <a:latin typeface="Calibri"/>
                <a:cs typeface="Calibri"/>
              </a:rPr>
              <a:t>Single-pass search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One automaton finds every occurrence of all keywords, with start and end positions.</a:t>
            </a:r>
          </a:p>
        </p:txBody>
      </p:sp>
      <p:sp>
        <p:nvSpPr>
          <p:cNvPr id="147" name="Unicode ready"/>
          <p:cNvSpPr/>
          <p:nvPr/>
        </p:nvSpPr>
        <p:spPr>
          <a:xfrm>
            <a:off x="6217920" y="1097280"/>
            <a:ext cx="52120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 i="0" dirty="0">
                <a:solidFill>
                  <a:srgbClr val="C00000"/>
                </a:solidFill>
                <a:latin typeface="Calibri"/>
                <a:cs typeface="Calibri"/>
              </a:rPr>
              <a:t>Unicode ready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Code-point processing handles English, Indian and Asian scripts and special symbols.</a:t>
            </a:r>
          </a:p>
        </p:txBody>
      </p:sp>
      <p:sp>
        <p:nvSpPr>
          <p:cNvPr id="148" name="Complete toolkit"/>
          <p:cNvSpPr/>
          <p:nvPr/>
        </p:nvSpPr>
        <p:spPr>
          <a:xfrm>
            <a:off x="822960" y="3246120"/>
            <a:ext cx="52120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 i="0" dirty="0">
                <a:solidFill>
                  <a:srgbClr val="C00000"/>
                </a:solidFill>
                <a:latin typeface="Calibri"/>
                <a:cs typeface="Calibri"/>
              </a:rPr>
              <a:t>Complete toolkit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KMP, fuzzy search, LCS similarity, max-flow, matching, vertex cover, scheduling, Miller–Rabin and prefix scan sit alongside it.</a:t>
            </a:r>
          </a:p>
        </p:txBody>
      </p:sp>
      <p:sp>
        <p:nvSpPr>
          <p:cNvPr id="149" name="Efficient"/>
          <p:cNvSpPr/>
          <p:nvPr/>
        </p:nvSpPr>
        <p:spPr>
          <a:xfrm>
            <a:off x="6217920" y="3246120"/>
            <a:ext cx="52120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 i="0" dirty="0">
                <a:solidFill>
                  <a:srgbClr val="C00000"/>
                </a:solidFill>
                <a:latin typeface="Calibri"/>
                <a:cs typeface="Calibri"/>
              </a:rPr>
              <a:t>Efficient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Search cost is O(N + Z) after preprocessing, instead of repeated single-pattern scans.</a:t>
            </a:r>
          </a:p>
        </p:txBody>
      </p:sp>
      <p:sp>
        <p:nvSpPr>
          <p:cNvPr id="150" name="Closing"/>
          <p:cNvSpPr/>
          <p:nvPr/>
        </p:nvSpPr>
        <p:spPr>
          <a:xfrm>
            <a:off x="822960" y="5440680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262626"/>
                </a:solidFill>
                <a:latin typeface="Calibri"/>
                <a:cs typeface="Calibri"/>
              </a:rPr>
              <a:t>The Trie, failure links and Unicode support together give a fast, scalable solution for multi-pattern keyword search over large, diverse 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151" name="Graphical interface"/>
          <p:cNvSpPr/>
          <p:nvPr/>
        </p:nvSpPr>
        <p:spPr>
          <a:xfrm>
            <a:off x="822960" y="1097280"/>
            <a:ext cx="338328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100" b="1" i="0" dirty="0">
                <a:solidFill>
                  <a:srgbClr val="C00000"/>
                </a:solidFill>
                <a:latin typeface="Calibri"/>
                <a:cs typeface="Calibri"/>
              </a:rPr>
              <a:t>Graphical interface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A GUI or web front-end in place of the console menu.</a:t>
            </a:r>
          </a:p>
        </p:txBody>
      </p:sp>
      <p:sp>
        <p:nvSpPr>
          <p:cNvPr id="152" name="File and dataset input"/>
          <p:cNvSpPr/>
          <p:nvPr/>
        </p:nvSpPr>
        <p:spPr>
          <a:xfrm>
            <a:off x="4434840" y="1097280"/>
            <a:ext cx="338328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100" b="1" i="0" dirty="0">
                <a:solidFill>
                  <a:srgbClr val="C00000"/>
                </a:solidFill>
                <a:latin typeface="Calibri"/>
                <a:cs typeface="Calibri"/>
              </a:rPr>
              <a:t>File and dataset input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Load large files and corpora instead of typing documents (store holds 100).</a:t>
            </a:r>
          </a:p>
        </p:txBody>
      </p:sp>
      <p:sp>
        <p:nvSpPr>
          <p:cNvPr id="153" name="Compact tries"/>
          <p:cNvSpPr/>
          <p:nvPr/>
        </p:nvSpPr>
        <p:spPr>
          <a:xfrm>
            <a:off x="8046720" y="1097280"/>
            <a:ext cx="338328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100" b="1" i="0" dirty="0">
                <a:solidFill>
                  <a:srgbClr val="C00000"/>
                </a:solidFill>
                <a:latin typeface="Calibri"/>
                <a:cs typeface="Calibri"/>
              </a:rPr>
              <a:t>Compact tries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Array-based or double-array tries to cut the memory use of linked edge lists.</a:t>
            </a:r>
          </a:p>
        </p:txBody>
      </p:sp>
      <p:sp>
        <p:nvSpPr>
          <p:cNvPr id="154" name="True parallelism"/>
          <p:cNvSpPr/>
          <p:nvPr/>
        </p:nvSpPr>
        <p:spPr>
          <a:xfrm>
            <a:off x="822960" y="3794760"/>
            <a:ext cx="338328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100" b="1" i="0" dirty="0">
                <a:solidFill>
                  <a:srgbClr val="C00000"/>
                </a:solidFill>
                <a:latin typeface="Calibri"/>
                <a:cs typeface="Calibri"/>
              </a:rPr>
              <a:t>True parallelism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Multi-threaded scanning and a genuinely parallel prefix scan.</a:t>
            </a:r>
          </a:p>
        </p:txBody>
      </p:sp>
      <p:sp>
        <p:nvSpPr>
          <p:cNvPr id="155" name="Richer Unicode handling"/>
          <p:cNvSpPr/>
          <p:nvPr/>
        </p:nvSpPr>
        <p:spPr>
          <a:xfrm>
            <a:off x="4434840" y="3794760"/>
            <a:ext cx="338328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100" b="1" i="0" dirty="0">
                <a:solidFill>
                  <a:srgbClr val="C00000"/>
                </a:solidFill>
                <a:latin typeface="Calibri"/>
                <a:cs typeface="Calibri"/>
              </a:rPr>
              <a:t>Richer Unicode handling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Normalisation, case folding and grapheme-cluster awareness.</a:t>
            </a:r>
          </a:p>
        </p:txBody>
      </p:sp>
      <p:sp>
        <p:nvSpPr>
          <p:cNvPr id="156" name="Real-world integration"/>
          <p:cNvSpPr/>
          <p:nvPr/>
        </p:nvSpPr>
        <p:spPr>
          <a:xfrm>
            <a:off x="8046720" y="3794760"/>
            <a:ext cx="338328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82880" tIns="137160" rIns="182880" bIns="13716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100" b="1" i="0" dirty="0">
                <a:solidFill>
                  <a:srgbClr val="C00000"/>
                </a:solidFill>
                <a:latin typeface="Calibri"/>
                <a:cs typeface="Calibri"/>
              </a:rPr>
              <a:t>Real-world integration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Intrusion detection, spam filtering and plagiarism checking, with benchmarks against repeated KMP.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Thank you</a:t>
            </a:r>
            <a:endParaRPr lang="en-US" sz="3200" b="1" dirty="0"/>
          </a:p>
        </p:txBody>
      </p:sp>
      <p:sp>
        <p:nvSpPr>
          <p:cNvPr id="157" name="Team line"/>
          <p:cNvSpPr txBox="1"/>
          <p:nvPr/>
        </p:nvSpPr>
        <p:spPr>
          <a:xfrm>
            <a:off x="2286000" y="4572000"/>
            <a:ext cx="7616952" cy="8229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C00000"/>
                </a:solidFill>
                <a:latin typeface="Calibri"/>
                <a:cs typeface="Calibri"/>
              </a:rPr>
              <a:t>Multi-Pattern Unicode Search Engine Using Aho–Corasick Algorithm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95959"/>
                </a:solidFill>
                <a:latin typeface="Calibri"/>
                <a:cs typeface="Calibri"/>
              </a:rPr>
              <a:t>Team 9  |  Questions are welcome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59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Gautami</vt:lpstr>
      <vt:lpstr>Times New Roman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ANITHA CHEKURI</cp:lastModifiedBy>
  <cp:revision>19</cp:revision>
  <dcterms:created xsi:type="dcterms:W3CDTF">2024-08-29T05:25:00Z</dcterms:created>
  <dcterms:modified xsi:type="dcterms:W3CDTF">2026-08-20T05:50:30Z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